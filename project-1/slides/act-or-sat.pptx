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0" r:id="rId5"/>
    <p:sldId id="265" r:id="rId6"/>
    <p:sldId id="266" r:id="rId7"/>
    <p:sldId id="267" r:id="rId8"/>
    <p:sldId id="268" r:id="rId9"/>
    <p:sldId id="269" r:id="rId10"/>
    <p:sldId id="270" r:id="rId11"/>
    <p:sldId id="273" r:id="rId12"/>
    <p:sldId id="274" r:id="rId13"/>
    <p:sldId id="275" r:id="rId14"/>
    <p:sldId id="276" r:id="rId15"/>
    <p:sldId id="279" r:id="rId16"/>
    <p:sldId id="280" r:id="rId17"/>
    <p:sldId id="281" r:id="rId18"/>
    <p:sldId id="278" r:id="rId19"/>
    <p:sldId id="28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036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155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08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76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83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13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6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66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0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48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1608123-C6E1-4997-872A-09D44C7B89DF}" type="datetimeFigureOut">
              <a:rPr lang="en-US" smtClean="0"/>
              <a:t>2021-02-23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27909E-CC53-48BC-A9E4-201080B1219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099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prepscholar.com/what-is-a-good-act-score-a-bad-act-score-an-excellent-act-score" TargetMode="External"/><Relationship Id="rId2" Type="http://schemas.openxmlformats.org/officeDocument/2006/relationships/hyperlink" Target="https://blog.prepscholar.com/what-does-act-stand-for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prepscholar.com/sat-sections" TargetMode="External"/><Relationship Id="rId2" Type="http://schemas.openxmlformats.org/officeDocument/2006/relationships/hyperlink" Target="https://blog.collegevine.com/what-does-sat-stand-for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prepscholar.com/act-vs-sa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A8942-F966-45BE-9B0C-B45E27343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latin typeface="Expressway" panose="020B0604020200020204" pitchFamily="34" charset="0"/>
              </a:rPr>
              <a:t>ACT or SAT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656D9-5D00-485D-9913-5863C7535C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n>
                  <a:solidFill>
                    <a:schemeClr val="tx2"/>
                  </a:solidFill>
                </a:ln>
                <a:latin typeface="Expressway" panose="020B0604020200020204" pitchFamily="34" charset="0"/>
              </a:rPr>
              <a:t>Which should you take ?</a:t>
            </a:r>
          </a:p>
        </p:txBody>
      </p:sp>
    </p:spTree>
    <p:extLst>
      <p:ext uri="{BB962C8B-B14F-4D97-AF65-F5344CB8AC3E}">
        <p14:creationId xmlns:p14="http://schemas.microsoft.com/office/powerpoint/2010/main" val="3127950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FB1D2-161F-4DAB-89F4-8D6EF84B3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6914"/>
            <a:ext cx="10058400" cy="3822180"/>
          </a:xfrm>
        </p:spPr>
        <p:txBody>
          <a:bodyPr>
            <a:noAutofit/>
          </a:bodyPr>
          <a:lstStyle/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Suppose I am an education advisor. 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My advisees can’t decide which test </a:t>
            </a:r>
          </a:p>
          <a:p>
            <a:pPr marL="0" indent="-731520" defTabSz="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       they should be working on.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I have datasets of average student </a:t>
            </a:r>
          </a:p>
          <a:p>
            <a:pPr marL="0" indent="-731520" defTabSz="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       performances by state.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I need to give a recommendation – ACT or SAT. </a:t>
            </a:r>
          </a:p>
        </p:txBody>
      </p:sp>
    </p:spTree>
    <p:extLst>
      <p:ext uri="{BB962C8B-B14F-4D97-AF65-F5344CB8AC3E}">
        <p14:creationId xmlns:p14="http://schemas.microsoft.com/office/powerpoint/2010/main" val="229173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OUTLINE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1249680" y="21993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Background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Datasets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Analysis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12643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BACKGROUND (</a:t>
            </a:r>
            <a:r>
              <a:rPr lang="en-US" sz="4800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Thasadith" pitchFamily="2" charset="-34"/>
                <a:cs typeface="Thasadith" pitchFamily="2" charset="-34"/>
              </a:rPr>
              <a:t>1</a:t>
            </a:r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CA3D3-CC3F-4A3C-A66A-4925A14965FA}"/>
              </a:ext>
            </a:extLst>
          </p:cNvPr>
          <p:cNvSpPr txBox="1"/>
          <p:nvPr/>
        </p:nvSpPr>
        <p:spPr>
          <a:xfrm>
            <a:off x="1097280" y="5222763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asadith" pitchFamily="2" charset="-34"/>
                <a:cs typeface="Thasadith" pitchFamily="2" charset="-34"/>
                <a:hlinkClick r:id="rId2"/>
              </a:rPr>
              <a:t>https://blog.prepscholar.com/what-does-act-stand-for</a:t>
            </a:r>
            <a:endParaRPr lang="en-US" dirty="0">
              <a:latin typeface="Thasadith" pitchFamily="2" charset="-34"/>
              <a:cs typeface="Thasadith" pitchFamily="2" charset="-34"/>
            </a:endParaRPr>
          </a:p>
          <a:p>
            <a:r>
              <a:rPr lang="en-US" dirty="0">
                <a:latin typeface="Thasadith" pitchFamily="2" charset="-34"/>
                <a:cs typeface="Thasadith" pitchFamily="2" charset="-34"/>
                <a:hlinkClick r:id="rId3"/>
              </a:rPr>
              <a:t>https://blog.prepscholar.com/what-is-a-good-act-score-a-bad-act-score-an-excellent-act-score</a:t>
            </a:r>
            <a:endParaRPr lang="en-US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16F1CA-247A-4BDB-AAE6-E8A251D9E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6914"/>
            <a:ext cx="10058400" cy="3822180"/>
          </a:xfrm>
        </p:spPr>
        <p:txBody>
          <a:bodyPr>
            <a:noAutofit/>
          </a:bodyPr>
          <a:lstStyle/>
          <a:p>
            <a:pPr marL="0" indent="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  <a:latin typeface="Thasadith" pitchFamily="2" charset="-34"/>
                <a:cs typeface="Thasadith" pitchFamily="2" charset="-34"/>
              </a:rPr>
              <a:t>ACT</a:t>
            </a:r>
            <a:r>
              <a:rPr lang="en-US" sz="3200" dirty="0">
                <a:latin typeface="Thasadith" pitchFamily="2" charset="-34"/>
                <a:cs typeface="Thasadith" pitchFamily="2" charset="-34"/>
              </a:rPr>
              <a:t> : </a:t>
            </a:r>
            <a:r>
              <a:rPr lang="en-US" sz="3200" dirty="0"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  <a:latin typeface="Thasadith" pitchFamily="2" charset="-34"/>
                <a:cs typeface="Thasadith" pitchFamily="2" charset="-34"/>
              </a:rPr>
              <a:t>A</a:t>
            </a:r>
            <a:r>
              <a:rPr lang="en-US" sz="3200" dirty="0">
                <a:latin typeface="Thasadith" pitchFamily="2" charset="-34"/>
                <a:cs typeface="Thasadith" pitchFamily="2" charset="-34"/>
              </a:rPr>
              <a:t>merican </a:t>
            </a:r>
            <a:r>
              <a:rPr lang="en-US" sz="3200" dirty="0"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  <a:latin typeface="Thasadith" pitchFamily="2" charset="-34"/>
                <a:cs typeface="Thasadith" pitchFamily="2" charset="-34"/>
              </a:rPr>
              <a:t>C</a:t>
            </a:r>
            <a:r>
              <a:rPr lang="en-US" sz="3200" dirty="0">
                <a:latin typeface="Thasadith" pitchFamily="2" charset="-34"/>
                <a:cs typeface="Thasadith" pitchFamily="2" charset="-34"/>
              </a:rPr>
              <a:t>ollege </a:t>
            </a:r>
            <a:r>
              <a:rPr lang="en-US" sz="3200" dirty="0"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  <a:latin typeface="Thasadith" pitchFamily="2" charset="-34"/>
                <a:cs typeface="Thasadith" pitchFamily="2" charset="-34"/>
              </a:rPr>
              <a:t>T</a:t>
            </a:r>
            <a:r>
              <a:rPr lang="en-US" sz="3200" dirty="0">
                <a:latin typeface="Thasadith" pitchFamily="2" charset="-34"/>
                <a:cs typeface="Thasadith" pitchFamily="2" charset="-34"/>
              </a:rPr>
              <a:t>esting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Accepted by all US colleges and universities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Score range (composite) : 1 – 36</a:t>
            </a:r>
          </a:p>
        </p:txBody>
      </p:sp>
    </p:spTree>
    <p:extLst>
      <p:ext uri="{BB962C8B-B14F-4D97-AF65-F5344CB8AC3E}">
        <p14:creationId xmlns:p14="http://schemas.microsoft.com/office/powerpoint/2010/main" val="394532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BACKGROUND (</a:t>
            </a:r>
            <a:r>
              <a:rPr lang="en-US" sz="4800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Thasadith" pitchFamily="2" charset="-34"/>
                <a:cs typeface="Thasadith" pitchFamily="2" charset="-34"/>
              </a:rPr>
              <a:t>2</a:t>
            </a:r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CA3D3-CC3F-4A3C-A66A-4925A14965FA}"/>
              </a:ext>
            </a:extLst>
          </p:cNvPr>
          <p:cNvSpPr txBox="1"/>
          <p:nvPr/>
        </p:nvSpPr>
        <p:spPr>
          <a:xfrm>
            <a:off x="1097280" y="5222763"/>
            <a:ext cx="1005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asadith" pitchFamily="2" charset="-34"/>
                <a:cs typeface="Thasadith" pitchFamily="2" charset="-34"/>
                <a:hlinkClick r:id="rId2"/>
              </a:rPr>
              <a:t>https://blog.collegevine.com/what-does-sat-stand-for</a:t>
            </a:r>
            <a:endParaRPr lang="en-US" dirty="0">
              <a:latin typeface="Thasadith" pitchFamily="2" charset="-34"/>
              <a:cs typeface="Thasadith" pitchFamily="2" charset="-34"/>
            </a:endParaRPr>
          </a:p>
          <a:p>
            <a:r>
              <a:rPr lang="en-US" dirty="0">
                <a:latin typeface="Thasadith" pitchFamily="2" charset="-34"/>
                <a:cs typeface="Thasadith" pitchFamily="2" charset="-34"/>
                <a:hlinkClick r:id="rId3"/>
              </a:rPr>
              <a:t>https://blog.prepscholar.com/sat-sections</a:t>
            </a:r>
            <a:endParaRPr lang="en-US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16F1CA-247A-4BDB-AAE6-E8A251D9E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6914"/>
            <a:ext cx="10058400" cy="3822180"/>
          </a:xfrm>
        </p:spPr>
        <p:txBody>
          <a:bodyPr>
            <a:noAutofit/>
          </a:bodyPr>
          <a:lstStyle/>
          <a:p>
            <a:pPr marL="0" indent="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n>
                  <a:solidFill>
                    <a:schemeClr val="accent1"/>
                  </a:solidFill>
                </a:ln>
                <a:solidFill>
                  <a:schemeClr val="accent1"/>
                </a:solidFill>
                <a:latin typeface="Thasadith" pitchFamily="2" charset="-34"/>
                <a:cs typeface="Thasadith" pitchFamily="2" charset="-34"/>
              </a:rPr>
              <a:t>SAT</a:t>
            </a:r>
            <a:r>
              <a:rPr lang="en-US" sz="3200" dirty="0">
                <a:latin typeface="Thasadith" pitchFamily="2" charset="-34"/>
                <a:cs typeface="Thasadith" pitchFamily="2" charset="-34"/>
              </a:rPr>
              <a:t> : Stands for nothing since 1997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Accepted by all US colleges and universities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Score range (total) : 400 – 1600</a:t>
            </a:r>
          </a:p>
        </p:txBody>
      </p:sp>
    </p:spTree>
    <p:extLst>
      <p:ext uri="{BB962C8B-B14F-4D97-AF65-F5344CB8AC3E}">
        <p14:creationId xmlns:p14="http://schemas.microsoft.com/office/powerpoint/2010/main" val="17594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BACKGROUND (</a:t>
            </a:r>
            <a:r>
              <a:rPr lang="en-US" sz="4800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Thasadith" pitchFamily="2" charset="-34"/>
                <a:cs typeface="Thasadith" pitchFamily="2" charset="-34"/>
              </a:rPr>
              <a:t>3</a:t>
            </a:r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CA3D3-CC3F-4A3C-A66A-4925A14965FA}"/>
              </a:ext>
            </a:extLst>
          </p:cNvPr>
          <p:cNvSpPr txBox="1"/>
          <p:nvPr/>
        </p:nvSpPr>
        <p:spPr>
          <a:xfrm>
            <a:off x="1097280" y="5499762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hasadith" pitchFamily="2" charset="-34"/>
                <a:cs typeface="Thasadith" pitchFamily="2" charset="-34"/>
                <a:hlinkClick r:id="rId2"/>
              </a:rPr>
              <a:t>https://blog.prepscholar.com/act-vs-sat</a:t>
            </a:r>
            <a:r>
              <a:rPr lang="en-US" dirty="0">
                <a:latin typeface="Thasadith" pitchFamily="2" charset="-34"/>
                <a:cs typeface="Thasadith" pitchFamily="2" charset="-34"/>
              </a:rPr>
              <a:t>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816F1CA-247A-4BDB-AAE6-E8A251D9E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46914"/>
            <a:ext cx="10058400" cy="3822180"/>
          </a:xfrm>
        </p:spPr>
        <p:txBody>
          <a:bodyPr>
            <a:noAutofit/>
          </a:bodyPr>
          <a:lstStyle/>
          <a:p>
            <a:pPr marL="0" indent="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Some states require ACT/SAT.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ACT : 11 states</a:t>
            </a:r>
          </a:p>
          <a:p>
            <a:pPr marL="1097280" lvl="1" indent="-365760" defTabSz="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Thasadith" pitchFamily="2" charset="-34"/>
                <a:cs typeface="Thasadith" pitchFamily="2" charset="-34"/>
              </a:rPr>
              <a:t>Alabama, Hawaii, Kentucky, Mississippi, Montana, …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SAT : 10 states</a:t>
            </a:r>
          </a:p>
          <a:p>
            <a:pPr marL="1097280" lvl="1" indent="-365760" defTabSz="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Thasadith" pitchFamily="2" charset="-34"/>
                <a:cs typeface="Thasadith" pitchFamily="2" charset="-34"/>
              </a:rPr>
              <a:t>Colorado, Connecticut, Delaware, District of Columbia, …</a:t>
            </a:r>
          </a:p>
        </p:txBody>
      </p:sp>
    </p:spTree>
    <p:extLst>
      <p:ext uri="{BB962C8B-B14F-4D97-AF65-F5344CB8AC3E}">
        <p14:creationId xmlns:p14="http://schemas.microsoft.com/office/powerpoint/2010/main" val="155583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DATASETS (1)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1249680" y="21993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Included in project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ACT mean scores by state 2017 - 2019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SAT mean scores by state 2017 - 2019</a:t>
            </a:r>
          </a:p>
        </p:txBody>
      </p:sp>
    </p:spTree>
    <p:extLst>
      <p:ext uri="{BB962C8B-B14F-4D97-AF65-F5344CB8AC3E}">
        <p14:creationId xmlns:p14="http://schemas.microsoft.com/office/powerpoint/2010/main" val="62803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DATASETS (2)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1249680" y="21993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Outside research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ACT percentiles</a:t>
            </a:r>
          </a:p>
          <a:p>
            <a:pPr marL="1097280" lvl="1" indent="-365760" defTabSz="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800" dirty="0">
                <a:latin typeface="Thasadith" pitchFamily="2" charset="-34"/>
                <a:cs typeface="Thasadith" pitchFamily="2" charset="-34"/>
              </a:rPr>
              <a:t>Based on ACT-tested high school graduates in 2017 - 2019</a:t>
            </a:r>
          </a:p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3200" dirty="0">
                <a:latin typeface="Thasadith" pitchFamily="2" charset="-34"/>
                <a:cs typeface="Thasadith" pitchFamily="2" charset="-34"/>
              </a:rPr>
              <a:t>SAT percentiles</a:t>
            </a:r>
          </a:p>
          <a:p>
            <a:pPr marL="1097280" lvl="2" indent="-365760" defTabSz="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600" dirty="0">
                <a:latin typeface="Thasadith" pitchFamily="2" charset="-34"/>
                <a:cs typeface="Thasadith" pitchFamily="2" charset="-34"/>
              </a:rPr>
              <a:t>Based on actual SAT scores of students in 2016 - 2020 who took the new SAT </a:t>
            </a:r>
          </a:p>
        </p:txBody>
      </p:sp>
    </p:spTree>
    <p:extLst>
      <p:ext uri="{BB962C8B-B14F-4D97-AF65-F5344CB8AC3E}">
        <p14:creationId xmlns:p14="http://schemas.microsoft.com/office/powerpoint/2010/main" val="3259616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B2B8762-61F0-4F1B-9364-D633EE9D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7675C8-1328-460C-9EBF-6B446B67EA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14EE78B-AF71-4195-A01B-F1165D923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AD83CFE-1CA3-4832-A4B9-C48CD1347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able&#10;&#10;Description automatically generated">
            <a:extLst>
              <a:ext uri="{FF2B5EF4-FFF2-40B4-BE49-F238E27FC236}">
                <a16:creationId xmlns:a16="http://schemas.microsoft.com/office/drawing/2014/main" id="{A03C2D30-5AD7-47F8-AC79-86E44D5B3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397" y="270430"/>
            <a:ext cx="5763950" cy="523078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C98641C-7F74-435D-996F-A4387A3C3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27" y="5495589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Expressway" panose="020B0604020200020204" pitchFamily="34" charset="0"/>
              </a:rPr>
              <a:t>THE DATASETS (3)</a:t>
            </a: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A9861133-8F82-4F61-AB5E-075729A1B7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7" y="270430"/>
            <a:ext cx="5770147" cy="434203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530C0F6-C8DF-4539-B30C-8105DB618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E51241-AA8B-4B82-9C59-6738DB85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43794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428" y="2286000"/>
            <a:ext cx="3200400" cy="2286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3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Expressway" panose="020B0604020200020204" pitchFamily="34" charset="0"/>
              </a:rPr>
              <a:t>THE ANALYSES </a:t>
            </a:r>
            <a:br>
              <a:rPr lang="en-US" sz="3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Expressway" panose="020B0604020200020204" pitchFamily="34" charset="0"/>
              </a:rPr>
            </a:br>
            <a:r>
              <a:rPr lang="en-US" sz="3600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Expressway" panose="020B0604020200020204" pitchFamily="34" charset="0"/>
              </a:rPr>
              <a:t>(1)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4367759" y="4657274"/>
            <a:ext cx="7736988" cy="186482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Not quite normally distributed.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SAT percentiles are more widely spread.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: conservative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SAT : high risk, high return</a:t>
            </a:r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CBAC6204-C468-4C80-BEBD-F38C07111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759" y="0"/>
            <a:ext cx="7736988" cy="4352054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97928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4367759" y="4657274"/>
            <a:ext cx="7736988" cy="186482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Do not follow normal distributions.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: left skewed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SAT : right skewed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is more popular.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tx1"/>
              </a:solidFill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pic>
        <p:nvPicPr>
          <p:cNvPr id="10" name="Picture 9" descr="Chart, bar chart&#10;&#10;Description automatically generated">
            <a:extLst>
              <a:ext uri="{FF2B5EF4-FFF2-40B4-BE49-F238E27FC236}">
                <a16:creationId xmlns:a16="http://schemas.microsoft.com/office/drawing/2014/main" id="{C53F22B8-B691-488C-B444-7D354FBF01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759" y="0"/>
            <a:ext cx="7736989" cy="465727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795795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4367759" y="4657274"/>
            <a:ext cx="7736988" cy="184616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Perhaps state mandatory policies or sponsorship.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: downward trend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SAT : upward trend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has lost popularity to SAT.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tx1"/>
              </a:solidFill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(3)</a:t>
            </a: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193FAC80-02AB-448B-917E-BE291F4F1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759" y="0"/>
            <a:ext cx="7736989" cy="465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70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77B768D-2810-4007-A833-1698D75CA287}"/>
              </a:ext>
            </a:extLst>
          </p:cNvPr>
          <p:cNvSpPr txBox="1">
            <a:spLocks/>
          </p:cNvSpPr>
          <p:nvPr/>
        </p:nvSpPr>
        <p:spPr>
          <a:xfrm>
            <a:off x="4367759" y="4932727"/>
            <a:ext cx="7736988" cy="15707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: more popular in mainland states.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SAT : more popular in coastal states.</a:t>
            </a:r>
          </a:p>
          <a:p>
            <a:pPr marL="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400" dirty="0">
              <a:solidFill>
                <a:schemeClr val="tx1"/>
              </a:solidFill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(4)</a:t>
            </a:r>
          </a:p>
        </p:txBody>
      </p:sp>
      <p:pic>
        <p:nvPicPr>
          <p:cNvPr id="5" name="Picture 4" descr="Map&#10;&#10;Description automatically generated with medium confidence">
            <a:extLst>
              <a:ext uri="{FF2B5EF4-FFF2-40B4-BE49-F238E27FC236}">
                <a16:creationId xmlns:a16="http://schemas.microsoft.com/office/drawing/2014/main" id="{8F941951-566A-4EA5-9961-E26F2F0DE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966" y="-2"/>
            <a:ext cx="8083102" cy="4865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088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(5)</a:t>
            </a:r>
          </a:p>
        </p:txBody>
      </p:sp>
      <p:pic>
        <p:nvPicPr>
          <p:cNvPr id="10" name="Picture 9" descr="A picture containing map&#10;&#10;Description automatically generated">
            <a:extLst>
              <a:ext uri="{FF2B5EF4-FFF2-40B4-BE49-F238E27FC236}">
                <a16:creationId xmlns:a16="http://schemas.microsoft.com/office/drawing/2014/main" id="{B93E1974-0D9C-4785-AE44-38B4490A6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966" y="-25167"/>
            <a:ext cx="8089034" cy="486561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694971-CCC7-4CDA-9D92-578EEE8656D7}"/>
              </a:ext>
            </a:extLst>
          </p:cNvPr>
          <p:cNvSpPr txBox="1">
            <a:spLocks/>
          </p:cNvSpPr>
          <p:nvPr/>
        </p:nvSpPr>
        <p:spPr>
          <a:xfrm>
            <a:off x="4367759" y="4932727"/>
            <a:ext cx="7736988" cy="15707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Contrast between participation rates and score percentiles</a:t>
            </a:r>
          </a:p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States with lower participation rates perform better on score percentiles and vice versa.</a:t>
            </a:r>
          </a:p>
        </p:txBody>
      </p:sp>
    </p:spTree>
    <p:extLst>
      <p:ext uri="{BB962C8B-B14F-4D97-AF65-F5344CB8AC3E}">
        <p14:creationId xmlns:p14="http://schemas.microsoft.com/office/powerpoint/2010/main" val="795375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(6)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694971-CCC7-4CDA-9D92-578EEE8656D7}"/>
              </a:ext>
            </a:extLst>
          </p:cNvPr>
          <p:cNvSpPr txBox="1">
            <a:spLocks/>
          </p:cNvSpPr>
          <p:nvPr/>
        </p:nvSpPr>
        <p:spPr>
          <a:xfrm>
            <a:off x="4367759" y="4932727"/>
            <a:ext cx="7736988" cy="15707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Negative correlation between score percentiles and participation rates.</a:t>
            </a:r>
          </a:p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Perhaps, students with high scores prepared exclusively for the tests.</a:t>
            </a:r>
          </a:p>
        </p:txBody>
      </p:sp>
      <p:pic>
        <p:nvPicPr>
          <p:cNvPr id="3" name="Picture 2" descr="Chart, scatter chart&#10;&#10;Description automatically generated">
            <a:extLst>
              <a:ext uri="{FF2B5EF4-FFF2-40B4-BE49-F238E27FC236}">
                <a16:creationId xmlns:a16="http://schemas.microsoft.com/office/drawing/2014/main" id="{7B36A201-DC9D-48DA-8A51-2242128341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79" y="1"/>
            <a:ext cx="7807067" cy="465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430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(7)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694971-CCC7-4CDA-9D92-578EEE8656D7}"/>
              </a:ext>
            </a:extLst>
          </p:cNvPr>
          <p:cNvSpPr txBox="1">
            <a:spLocks/>
          </p:cNvSpPr>
          <p:nvPr/>
        </p:nvSpPr>
        <p:spPr>
          <a:xfrm>
            <a:off x="4367759" y="4932727"/>
            <a:ext cx="7736988" cy="15707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Take the negatively correlated participation rates into consideration. </a:t>
            </a:r>
          </a:p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In general, the ACT yields higher score metrics.</a:t>
            </a:r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C27ABB66-0C11-4932-911B-F905420FC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0" y="0"/>
            <a:ext cx="7807067" cy="493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924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9C2872-E8DF-4453-96B9-A3A65D36C15E}"/>
              </a:ext>
            </a:extLst>
          </p:cNvPr>
          <p:cNvSpPr txBox="1">
            <a:spLocks/>
          </p:cNvSpPr>
          <p:nvPr/>
        </p:nvSpPr>
        <p:spPr>
          <a:xfrm>
            <a:off x="439428" y="2286000"/>
            <a:ext cx="3200400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b="0" kern="1200" spc="-5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THE ANALYSES </a:t>
            </a:r>
            <a:b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</a:br>
            <a:r>
              <a:rPr lang="en-US" dirty="0">
                <a:ln>
                  <a:solidFill>
                    <a:schemeClr val="bg1"/>
                  </a:solidFill>
                </a:ln>
                <a:latin typeface="Expressway" panose="020B0604020200020204" pitchFamily="34" charset="0"/>
              </a:rPr>
              <a:t>(8)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C694971-CCC7-4CDA-9D92-578EEE8656D7}"/>
              </a:ext>
            </a:extLst>
          </p:cNvPr>
          <p:cNvSpPr txBox="1">
            <a:spLocks/>
          </p:cNvSpPr>
          <p:nvPr/>
        </p:nvSpPr>
        <p:spPr>
          <a:xfrm>
            <a:off x="4367759" y="4932727"/>
            <a:ext cx="7736988" cy="157071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ACT : still recommended for the mainland states.</a:t>
            </a:r>
          </a:p>
          <a:p>
            <a:pPr marL="731520" indent="-73152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tx1"/>
                </a:solidFill>
                <a:latin typeface="Thasadith" pitchFamily="2" charset="-34"/>
                <a:cs typeface="Thasadith" pitchFamily="2" charset="-34"/>
              </a:rPr>
              <a:t>SAT : preferred by the coastal regions.</a:t>
            </a:r>
          </a:p>
        </p:txBody>
      </p:sp>
      <p:pic>
        <p:nvPicPr>
          <p:cNvPr id="3" name="Picture 2" descr="A picture containing map&#10;&#10;Description automatically generated">
            <a:extLst>
              <a:ext uri="{FF2B5EF4-FFF2-40B4-BE49-F238E27FC236}">
                <a16:creationId xmlns:a16="http://schemas.microsoft.com/office/drawing/2014/main" id="{9154063B-8ED1-41CC-845F-DCA68E8CA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966" y="0"/>
            <a:ext cx="8089034" cy="484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4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E987B-3ED4-4233-B0D0-51061D660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  <a:latin typeface="Expressway" panose="020B0604020200020204" pitchFamily="34" charset="0"/>
              </a:rPr>
              <a:t>THE CONCLUSION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0F8487-A6BD-4BB5-9C06-F422EC85EDC9}"/>
              </a:ext>
            </a:extLst>
          </p:cNvPr>
          <p:cNvSpPr txBox="1">
            <a:spLocks/>
          </p:cNvSpPr>
          <p:nvPr/>
        </p:nvSpPr>
        <p:spPr>
          <a:xfrm>
            <a:off x="1097280" y="2046914"/>
            <a:ext cx="10058400" cy="382218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731520" defTabSz="73152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3200" dirty="0">
              <a:latin typeface="Thasadith" pitchFamily="2" charset="-34"/>
              <a:cs typeface="Thasadith" pitchFamily="2" charset="-34"/>
            </a:endParaRPr>
          </a:p>
        </p:txBody>
      </p:sp>
      <p:pic>
        <p:nvPicPr>
          <p:cNvPr id="5" name="Picture 4" descr="Map&#10;&#10;Description automatically generated">
            <a:extLst>
              <a:ext uri="{FF2B5EF4-FFF2-40B4-BE49-F238E27FC236}">
                <a16:creationId xmlns:a16="http://schemas.microsoft.com/office/drawing/2014/main" id="{80084AFF-EE3D-4913-A525-E53FD92CE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179" y="1829638"/>
            <a:ext cx="7994988" cy="4497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1290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C24FFEB-27C5-4DC6-A3AF-9AC58DA1C552}"/>
              </a:ext>
            </a:extLst>
          </p:cNvPr>
          <p:cNvSpPr txBox="1">
            <a:spLocks/>
          </p:cNvSpPr>
          <p:nvPr/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dirty="0"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latin typeface="Expressway" panose="020B0604020200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335775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476</TotalTime>
  <Words>474</Words>
  <Application>Microsoft Office PowerPoint</Application>
  <PresentationFormat>Widescreen</PresentationFormat>
  <Paragraphs>76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Calibri</vt:lpstr>
      <vt:lpstr>Calibri Light</vt:lpstr>
      <vt:lpstr>Expressway</vt:lpstr>
      <vt:lpstr>Thasadith</vt:lpstr>
      <vt:lpstr>Wingdings</vt:lpstr>
      <vt:lpstr>Retrospect</vt:lpstr>
      <vt:lpstr>ACT or SAT</vt:lpstr>
      <vt:lpstr>THE PROBLEM</vt:lpstr>
      <vt:lpstr>THE OUTLINE</vt:lpstr>
      <vt:lpstr>THE BACKGROUND (1)</vt:lpstr>
      <vt:lpstr>THE BACKGROUND (2)</vt:lpstr>
      <vt:lpstr>THE BACKGROUND (3)</vt:lpstr>
      <vt:lpstr>THE DATASETS (1)</vt:lpstr>
      <vt:lpstr>THE DATASETS (2)</vt:lpstr>
      <vt:lpstr>THE DATASETS (3)</vt:lpstr>
      <vt:lpstr>THE ANALYSES  (1)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 or SAT</dc:title>
  <dc:creator>Saruth Kritdum</dc:creator>
  <cp:lastModifiedBy>Saruth Kritdum</cp:lastModifiedBy>
  <cp:revision>57</cp:revision>
  <dcterms:created xsi:type="dcterms:W3CDTF">2021-02-22T18:00:49Z</dcterms:created>
  <dcterms:modified xsi:type="dcterms:W3CDTF">2021-02-23T01:58:24Z</dcterms:modified>
</cp:coreProperties>
</file>